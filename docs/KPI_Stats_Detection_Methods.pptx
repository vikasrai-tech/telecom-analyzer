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09728" cy="66568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5G Network KPI &amp; 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D8"/>
                </a:solidFill>
              </a:rPr>
              <a:t>Anomaly Detection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566160"/>
            <a:ext cx="57607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AD3E0"/>
                </a:solidFill>
              </a:rPr>
              <a:t>6 Methods · Results · Why Each Was Chosen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AD3E0"/>
                </a:solidFill>
              </a:rPr>
              <a:t>Unified Telecom Analyzer  |  Reviewer Briefing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29200"/>
            <a:ext cx="173736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04748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Threshold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5029200"/>
            <a:ext cx="173736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504748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Peer Comparison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5029200"/>
            <a:ext cx="173736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504748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Trend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5029200"/>
            <a:ext cx="173736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504748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IQR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5029200"/>
            <a:ext cx="173736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504748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CUSUM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5029200"/>
            <a:ext cx="173736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504748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Bollinger Bands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235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3E0"/>
                </a:solidFill>
              </a:rPr>
              <a:t>🟢 = existing method     🔵 = newly added method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What are gNB KPIs — and why do they need anomaly detection?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21208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</a:rPr>
              <a:t>5G gNB KPI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92224"/>
            <a:ext cx="137160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922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7922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Cell on-air rate, NW uptime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03704"/>
            <a:ext cx="137160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0370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Accessibility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20370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RRC SR, Registration SR, PDU Session SR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15184"/>
            <a:ext cx="137160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151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Retainability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61518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Drop call rate, RRC release cause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26664"/>
            <a:ext cx="137160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2666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Mobility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02666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Handover SR, HO prep / exec failures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38144"/>
            <a:ext cx="137160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381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43814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PRB DL/UL utilization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49624"/>
            <a:ext cx="137160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496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Radio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8496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CQI, SINR, BLER, RSRP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61104"/>
            <a:ext cx="137160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6110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Throughput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26110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DL/UL Mbps per cell and per user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72584"/>
            <a:ext cx="137160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6725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67258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One-way latency, round-trip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84064"/>
            <a:ext cx="137160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08406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Scheduling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08406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MCS distribution, scheduler efficiency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495544"/>
            <a:ext cx="137160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4955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RACH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49554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Random access success rate, RA preambles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1188720"/>
            <a:ext cx="5669280" cy="521208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298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</a:rPr>
              <a:t>Why Detection is Non-trivial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1737360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173736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Thresholds alone aren't enough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20848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A cell at 97% SR is 'green' by threshold but may be the worst in a fleet of 99.5% cells.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651760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265176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KPIs drift gradually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29992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RRC SR dropping 0.1%/hour is invisible row-by-row but significant over 24 hours.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566160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56616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Distributions are non-Gaussian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9136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PRB utilization is right-skewed. CQI during interference is left-skewed. Z-score misbehaves.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4480560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448056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Sudden bursts vs slow trends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8280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A PRB spike at hour 15 needs a different detector than a monotonic CQI decline.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5394960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539496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Peer context matters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7424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The same KPI value means something different depending on what nearby cells show.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6 KPI Anomaly Detection Methods —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3657600" cy="24231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657600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325880"/>
            <a:ext cx="50292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258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25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Threshold
Violation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011680"/>
            <a:ext cx="1371600" cy="274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0208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Point-in-time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4048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Fixed operator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77063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(3GPP / ITU-T SLA)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143000"/>
            <a:ext cx="3657600" cy="24231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143000"/>
            <a:ext cx="3657600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1325880"/>
            <a:ext cx="50292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13258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325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Peer
Comparison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8" y="2011680"/>
            <a:ext cx="1371600" cy="274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20208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Cross-cell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24048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Cross-cell z-score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277063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Fleet deviation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143000"/>
            <a:ext cx="3657600" cy="24231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143000"/>
            <a:ext cx="3657600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47888" y="1325880"/>
            <a:ext cx="50292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13258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1325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Trend
(Lin. Regression)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47888" y="2011680"/>
            <a:ext cx="1371600" cy="274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20208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Long-term 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4048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Monotonic degradation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277063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slope over 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794760"/>
            <a:ext cx="3657600" cy="24231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794760"/>
            <a:ext cx="36576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5488" y="3977640"/>
            <a:ext cx="50292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39776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3977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IQR
(Tukey Fence)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" y="4663440"/>
            <a:ext cx="137160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46725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Robust outlier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505663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Robust fence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54223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No distribution assumption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3794760"/>
            <a:ext cx="3657600" cy="24231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51960" y="3794760"/>
            <a:ext cx="36576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61688" y="3977640"/>
            <a:ext cx="50292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61688" y="39776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3977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CUSUM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61688" y="4663440"/>
            <a:ext cx="137160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61688" y="46725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Sustained drift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61688" y="505663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Cumulative sum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61688" y="54223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Change-point detection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3794760"/>
            <a:ext cx="3657600" cy="24231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38160" y="3794760"/>
            <a:ext cx="36576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47888" y="3977640"/>
            <a:ext cx="50292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47888" y="39776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3977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Bollinger
Bands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47888" y="4663440"/>
            <a:ext cx="137160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47888" y="46725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Burst detection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47888" y="505663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Rolling mean ± 2σ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47888" y="54223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Short-term spikes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AD3E0"/>
                </a:solidFill>
              </a:rPr>
              <a:t>🟢 = Existing (3 methods already live)     🔵 = Newly added (3 methods added this sprint)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37744"/>
            <a:ext cx="566928" cy="5669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D6A0"/>
                </a:solidFill>
              </a:rPr>
              <a:t>Threshold Violation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274320"/>
            <a:ext cx="128016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743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Point-in-time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731520"/>
            <a:ext cx="8686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AD3E0"/>
                </a:solidFill>
              </a:rPr>
              <a:t>Checks every row against fixed warning / critical limits per KPI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486400" cy="2286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486400" cy="2743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6128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904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for row in records: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4650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    val = row[kpi]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025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    meta = get_meta(kpi)   # warning, critical from 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2585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    if direction == 'higher_better':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1460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        if val &lt;= meta['critical']:  severity = 'Critical'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7063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        elif val &lt;= meta['warning']: severity = 'High'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47872"/>
            <a:ext cx="2651760" cy="2880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210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✅  Pros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05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Zero setup — limits from 3GPP/ITU-T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100% interpretable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097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Zero false positives for known thresholds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120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Instant — O(n)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547872"/>
            <a:ext cx="2651760" cy="2880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36210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76F"/>
                </a:solidFill>
              </a:rPr>
              <a:t>❌  Cons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005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Misses underperforming cells
that stay above threshold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4074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Requires pre-configured limits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8097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Blind to relative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73952"/>
            <a:ext cx="5486400" cy="329184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WHY: The mandatory baseline. Every 3GPP-defined KPI has operator SLA limits. No ML needed.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1143000"/>
            <a:ext cx="5760720" cy="566928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80760" y="1143000"/>
            <a:ext cx="5760720" cy="3291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1612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Results on Sample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5544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✅ Fires on CQI = 3.2 (below critical=5)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90195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✅ Fires on RRC SR = 82% (below critical=95%)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24942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✅ Fires on Cell Availability = 93% (&lt; 95%)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59689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94436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76F"/>
                </a:solidFill>
              </a:rPr>
              <a:t>❌ MISSES: Cell at 97% SR when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29184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fleet average is 99.5%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63931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(97% is above threshold=95%)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98678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3342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76F"/>
                </a:solidFill>
              </a:rPr>
              <a:t>❌ MISSES: Gradual CQI drift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68172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9.0 → 8.5 → 8.2 (above warning=8.0)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02920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until it finally crosses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37667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72414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→ Needs peer + trend methods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607161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to cover these gaps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37744"/>
            <a:ext cx="566928" cy="5669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D6A0"/>
                </a:solidFill>
              </a:rPr>
              <a:t>Peer Comparison (Z-score)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274320"/>
            <a:ext cx="128016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743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Cross-cell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731520"/>
            <a:ext cx="8686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AD3E0"/>
                </a:solidFill>
              </a:rPr>
              <a:t>Flags cells whose KPI mean is &gt; 2σ below (or above) the fleet average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486400" cy="2286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486400" cy="2743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6128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904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cell_means = df.groupby(cell_col)[kpi].mean()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4650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fleet_mean = cell_means.mean()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025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fleet_std  = cell_means.std()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2585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z_scores   = (cell_means - fleet_mean) / fleet_std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1460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# Flag cells with z &lt; -2.0 (higher_better)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7063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#           or z &gt;  2.0 (lower_better)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47872"/>
            <a:ext cx="2651760" cy="2880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210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✅  Pros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05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Catches underperformers
not visible via 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Self-calibrates to fleet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097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No pre-configured limits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120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Finds relative outliers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547872"/>
            <a:ext cx="2651760" cy="2880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36210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76F"/>
                </a:solidFill>
              </a:rPr>
              <a:t>❌  Cons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005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Assumes Gaussian distribution
across cells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4074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Needs multiple cells (n≥5)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8097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Fleet mean can be skewed
if many cells are bad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73952"/>
            <a:ext cx="5486400" cy="329184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WHY: A cell might be 'green' by threshold but the worst in its peer group — this is the only method that catches that.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1143000"/>
            <a:ext cx="5760720" cy="566928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80760" y="1143000"/>
            <a:ext cx="5760720" cy="3291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1612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Results on Sample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5544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✅ Cell at 97% SR flagged as 2.3σ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90195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below fleet mean of 99.5%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24942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— threshold never fires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59689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94436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✅ CQI 3.2 flagged as 4.1σ below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29184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fleet CQI of 9.5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63931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98678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76F"/>
                </a:solidFill>
              </a:rPr>
              <a:t>❌ MISSES if many cells are bad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3342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(fleet mean drops, z-score shrinks)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68172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02920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76F"/>
                </a:solidFill>
              </a:rPr>
              <a:t>❌ MISSES short-term spikes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37667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(uses per-cell mean, not instantaneous)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72414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607161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→ Needs CUSUM + Bollinger Bands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641908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for the time-dimension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37744"/>
            <a:ext cx="566928" cy="5669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D6A0"/>
                </a:solidFill>
              </a:rPr>
              <a:t>Trend (Linear Regression)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274320"/>
            <a:ext cx="128016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743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Long-term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731520"/>
            <a:ext cx="8686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AD3E0"/>
                </a:solidFill>
              </a:rPr>
              <a:t>Linear regression slope over the full dataset; flags degrading KPIs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486400" cy="2286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486400" cy="2743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6128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904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x = hours_since_start   # numeric time 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4650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y = kpi_values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025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slope, intercept = np.polyfit(x, y,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2585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# Degrading: slope &lt; -0.5/hr (higher_better)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1460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#            slope &gt;  0.5/hr (lower_better)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7063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severity = 'High' if abs(slope) &gt; 2.0 else 'Medium'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47872"/>
            <a:ext cx="2651760" cy="2880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210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✅  Pros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05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Catches gradual degradation
before threshold fires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Fleet-wide early warning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097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Simple, interpretable
(slope + delta)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120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No stationarity required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547872"/>
            <a:ext cx="2651760" cy="2880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36210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76F"/>
                </a:solidFill>
              </a:rPr>
              <a:t>❌  Cons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005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Only catches MONOTONIC decline
(linear fit)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4074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Misses sudden spikes
(they're outliers to the fit)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8097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One value per KPI
(not per cell)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52120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Sensitive to seasonality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473952"/>
            <a:ext cx="5486400" cy="329184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WHY: Detects the early warning sign of a long-term problem before any SLA threshold is breached.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1143000"/>
            <a:ext cx="5760720" cy="566928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1143000"/>
            <a:ext cx="5760720" cy="3291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11612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Results on Sample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5544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✅ RRC SR declining slope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190195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-0.8%/hr detected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24942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(still above threshold)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59689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94436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✅ PRB utilization +1.2%/hr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29184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trend flagged 6 hours before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63931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congestion threshold fires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98678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3342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76F"/>
                </a:solidFill>
              </a:rPr>
              <a:t>❌ MISSES: momentary PRB spike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68172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at hour 15 (spike is 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02920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outlier to linear fit,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37667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slope stays low)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72414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607161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→ Bollinger Bands covers spikes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37744"/>
            <a:ext cx="566928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IQR (Tukey Fence)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274320"/>
            <a:ext cx="12801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743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Robust outlier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731520"/>
            <a:ext cx="8686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AD3E0"/>
                </a:solidFill>
              </a:rPr>
              <a:t>Outlier = outside [Q1 - 1.5·IQR, Q3 + 1.5·IQR] — no distribution assumption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486400" cy="2286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486400" cy="2743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6128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904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q1  = vals.quantile(0.25)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4650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q3  = vals.quantile(0.75)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025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iqr = q3 - 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2585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lower_fence = q1 - 1.5 * iqr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1460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upper_fence = q3 + 1.5 * iqr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7063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# Flag val &lt; lower_fence (higher_better)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47872"/>
            <a:ext cx="2651760" cy="2880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210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✅  Pros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05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Distribution-free — works on
skewed PRB / CQI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Resistant to outlier inflation
of σ (unlike z-score)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097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No thresholds to configure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120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Simple, fast, robust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547872"/>
            <a:ext cx="2651760" cy="2880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36210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76F"/>
                </a:solidFill>
              </a:rPr>
              <a:t>❌  Cons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005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Point-in-time only
(no temporal context)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4074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With &lt; 25% anomalies,
fences are conservative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8097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Doesn't detect relative
cell underperformance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73952"/>
            <a:ext cx="5486400" cy="329184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WHY: PRB utilization is right-skewed, CQI during interference is left-skewed. Z-score fails on both. IQR doesn't.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1143000"/>
            <a:ext cx="5760720" cy="566928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80760" y="1143000"/>
            <a:ext cx="576072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1612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Results on Sample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5544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✅ PRB spike at Cell_B (97%)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90195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flagged: above upper fence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24942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(fleet Q3=42, IQR=52,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59689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 fence=42+78=120? No...)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94436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29184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66"/>
                </a:solidFill>
              </a:rPr>
              <a:t>⚠️ IQR fence adapts to data: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63931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if 30% of rows are bad,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98678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fence includes them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3342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→ best when &lt; 25% anomalies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68172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02920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✅ RRC SR 82% at Cell_A flagged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37667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as below lower fence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72414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(when most cells are 99%)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607161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641908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→ Complements z-score for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676656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non-Gaussian KPIs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37744"/>
            <a:ext cx="566928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CUSUM (Cumulative Sum)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274320"/>
            <a:ext cx="12801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743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Sustained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731520"/>
            <a:ext cx="8686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AD3E0"/>
                </a:solidFill>
              </a:rPr>
              <a:t>Accumulates small deviations from cell mean — fires when cumulative shift &gt; 5σ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486400" cy="2286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486400" cy="2743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6128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904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mu, sigma = series.mean(), series.std()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4650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K, H = 0.5, 5.0    # slack=0.5σ, alarm=5σ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025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S_pos, S_neg = 0.0, 0.0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2585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for x in normalized_series: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1460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    S_pos = max(0, S_pos + x - 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7063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    S_neg = max(0, S_neg - x - 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2666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    if S_neg &gt; H: alert('downward drift')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47872"/>
            <a:ext cx="2651760" cy="2880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210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✅  Pros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005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Catches sustained drift
that no single point flags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074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Standard NOC method
for early warning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097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Accumulates evidence
before alarming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120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Per-cell — not fleet-wide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547872"/>
            <a:ext cx="2651760" cy="2880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36210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76F"/>
                </a:solidFill>
              </a:rPr>
              <a:t>❌  Cons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005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Per-cell mean needed
(requires ≥ 5 data points)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4074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Assumes stationarity
within each cell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8097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Misses sudden spikes
(single-point events)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52120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Parameters k/h need tuning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473952"/>
            <a:ext cx="5486400" cy="329184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WHY: The industry-standard early warning method in telecom NOC. Catches what threshold detection misses by 5+ hours.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1143000"/>
            <a:ext cx="5760720" cy="566928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0760" y="1143000"/>
            <a:ext cx="576072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1612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Results on Sample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15544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✅ PRB Cell_B: CUSUM detected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190195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sustained upward drift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24942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at hour 15 (S+ &gt; 5σ)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59689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94436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✅ RRC Cell_A: 20-interval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29184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downward drift from 99%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63931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to 83% detected at hour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98678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— threshold fires at hour 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3342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CUSUM fires 5 hours earlier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68172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02920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76F"/>
                </a:solidFill>
              </a:rPr>
              <a:t>❌ Doesn't fire on CQI=3.2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37667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if Cell_C has always been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72414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bad (no drift from own mean)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607161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641908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→ Threshold catches 'always bad'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676656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CUSUM catches 'getting worse'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37744"/>
            <a:ext cx="566928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Bollinger Bands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274320"/>
            <a:ext cx="12801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743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Burst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731520"/>
            <a:ext cx="8686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AD3E0"/>
                </a:solidFill>
              </a:rPr>
              <a:t>Lagged rolling mean ± 2σ envelope — flags values outside the local band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486400" cy="2286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486400" cy="2743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6128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904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lagged  = sub[kpi].shift(1)   # exclude current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4650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rm      = lagged.rolling(5, min_periods=3).mean()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025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rstd    = lagged.rolling(5, min_periods=3).std().clip(0.5)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2585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upper_b = rm + 2 * rstd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1460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lower_b = rm - 2 * rstd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7063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</a:rPr>
              <a:t>if val &gt; upper_b: alert('spike above band')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47872"/>
            <a:ext cx="2651760" cy="2880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210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✅  Pros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05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Catches sudden short-term
spikes (burst events)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Local context — adapts to
cell's recent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097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Proven in financial
anomaly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120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Lagged window prevents
self-masking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547872"/>
            <a:ext cx="2651760" cy="2880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36210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76F"/>
                </a:solidFill>
              </a:rPr>
              <a:t>❌  Cons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005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Window size affects
sensitivity (tunable)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4074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May fire on legitimate
load surges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8097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Needs ≥ 6 data 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52120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• Local std = 0 edge case
(handled with clip(0.5))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473952"/>
            <a:ext cx="5486400" cy="329184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WHY: The only method that catches sudden short-term bursts. Adopted from financial market anomaly detection — proven effective for telecom KPI burst events.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1143000"/>
            <a:ext cx="5760720" cy="566928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1143000"/>
            <a:ext cx="576072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11612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Results on Sample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5544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✅ PRB Cell_B: burst at hour 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190195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(97%) above upper band (47%)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24942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flagged as High severity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59689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94436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✅ RRC Cell_A: step decline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29184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detected as values exit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63931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the rolling envelope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98678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3342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66"/>
                </a:solidFill>
              </a:rPr>
              <a:t>⚠️ Without shift(1) lag, current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68172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spike inflates its own band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02920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and hides itself — fixed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37667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by shifting the rolling window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72414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607161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76F"/>
                </a:solidFill>
              </a:rPr>
              <a:t>❌ MISSES slow gradual drift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641908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 (band tracks the drift)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676656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711403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→ CUSUM catches slow drift,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746150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  Bollinger catches the spike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Head-to-Head Comparison of 6 Detection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88720"/>
            <a:ext cx="192024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9520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1188720"/>
            <a:ext cx="237744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239520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What it catches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188720"/>
            <a:ext cx="173736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239520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Distribution req.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188720"/>
            <a:ext cx="146304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3952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Time-series?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1188720"/>
            <a:ext cx="137160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239520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Setup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188720"/>
            <a:ext cx="164592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23952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False +ve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09344"/>
            <a:ext cx="192024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1609344"/>
            <a:ext cx="64008" cy="69494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1682496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Threshold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1609344"/>
            <a:ext cx="237744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0008" y="1682496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Hard 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8" y="1956816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violations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1609344"/>
            <a:ext cx="173736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7448" y="1682496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None (fixed)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1609344"/>
            <a:ext cx="146304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168249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1609344"/>
            <a:ext cx="137160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7848" y="1682496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Zero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1609344"/>
            <a:ext cx="164592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9448" y="1682496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Zero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359152"/>
            <a:ext cx="192024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2359152"/>
            <a:ext cx="64008" cy="69494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2432304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Peer Comparison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2359152"/>
            <a:ext cx="237744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2432304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Cells below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50008" y="2706624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fleet average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2359152"/>
            <a:ext cx="173736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27448" y="2432304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Gaussian (mild)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2359152"/>
            <a:ext cx="146304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4808" y="243230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18120" y="2359152"/>
            <a:ext cx="137160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7848" y="2432304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Zero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2359152"/>
            <a:ext cx="164592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99448" y="243230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Low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108960"/>
            <a:ext cx="192024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3108960"/>
            <a:ext cx="64008" cy="69494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" y="3182112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Trend (LinReg)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40280" y="3108960"/>
            <a:ext cx="237744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50008" y="3182112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Monotonic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50008" y="3456432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long-term drift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3108960"/>
            <a:ext cx="173736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27448" y="3182112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None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3108960"/>
            <a:ext cx="146304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64808" y="3182112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18120" y="3108960"/>
            <a:ext cx="137160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27848" y="3182112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Zero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89720" y="3108960"/>
            <a:ext cx="164592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99448" y="3182112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Low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3858768"/>
            <a:ext cx="192024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0040" y="3858768"/>
            <a:ext cx="64008" cy="6949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9768" y="3931920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IQR (Tukey)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40280" y="3858768"/>
            <a:ext cx="237744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350008" y="393192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Point outliers,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50008" y="420624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robust to skew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17720" y="3858768"/>
            <a:ext cx="173736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27448" y="3931920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None (robust)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55080" y="3858768"/>
            <a:ext cx="146304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64808" y="3931920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No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18120" y="3858768"/>
            <a:ext cx="137160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27848" y="393192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Zero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89720" y="3858768"/>
            <a:ext cx="164592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99448" y="3931920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Low-Med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4608576"/>
            <a:ext cx="192024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0040" y="4608576"/>
            <a:ext cx="64008" cy="6949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9768" y="4681728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CUSUM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40280" y="4608576"/>
            <a:ext cx="237744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350008" y="4681728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Sustained drift,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50008" y="4956048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change-points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17720" y="4608576"/>
            <a:ext cx="173736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27448" y="468172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Normal approx.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55080" y="4608576"/>
            <a:ext cx="146304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64808" y="4681728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Yes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818120" y="4608576"/>
            <a:ext cx="137160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927848" y="46817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Low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189720" y="4608576"/>
            <a:ext cx="1645920" cy="694944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99448" y="4681728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Low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5358384"/>
            <a:ext cx="192024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20040" y="5358384"/>
            <a:ext cx="64008" cy="6949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9768" y="5431536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Bollinger Bands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40280" y="5358384"/>
            <a:ext cx="237744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350008" y="5431536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Short-term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50008" y="5705856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spikes &amp; bursts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17720" y="5358384"/>
            <a:ext cx="173736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27448" y="5431536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Normal (local)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355080" y="5358384"/>
            <a:ext cx="146304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64808" y="543153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Yes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818120" y="5358384"/>
            <a:ext cx="137160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927848" y="5431536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Low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189720" y="5358384"/>
            <a:ext cx="1645920" cy="69494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99448" y="5431536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Medium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AD3E0"/>
                </a:solidFill>
              </a:rPr>
              <a:t>🟢 Existing   🔵 New   |   All 6 methods are complementary — no single method catches everything.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Why We Use All 6 Together — Coverage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3657600" cy="251460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657600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0759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📍 Point Threshold Breach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856232"/>
            <a:ext cx="3438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CQI drops below critical=5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258568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Threshold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560320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IQR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862072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Others: may miss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143000"/>
            <a:ext cx="3657600" cy="251460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43000"/>
            <a:ext cx="3657600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30759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👥 Underperforming Cell
(within threshold)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856232"/>
            <a:ext cx="3438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Cell at 97% SR when fleet is 99.5%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258568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Peer Comparison 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560320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Others: won't 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862072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(value still 'green')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143000"/>
            <a:ext cx="3657600" cy="251460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143000"/>
            <a:ext cx="36576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30759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📉 Slow Monotonic Decline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1856232"/>
            <a:ext cx="3438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RRC SR: 99.5% → 98% over 24 hrs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258568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Trend 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560320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CUSUM 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862072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Threshold: won't fire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3163824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IQR: won't fire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40480"/>
            <a:ext cx="3657600" cy="251460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840480"/>
            <a:ext cx="36576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400507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Skewed Distribution
Outlier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4553712"/>
            <a:ext cx="3438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PRB spike in right-skewed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956048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IQR ✅ (z-score fails here)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5257800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Bollinger Bands 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5559552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Peer Comparison: maybe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3840480"/>
            <a:ext cx="3657600" cy="251460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60" y="3840480"/>
            <a:ext cx="36576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1688" y="400507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Sudden Short-term Spike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1688" y="4553712"/>
            <a:ext cx="3438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PRB bursts to 95% for 2 intervals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1688" y="4956048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Bollinger Bands 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1688" y="5257800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Threshold ✅ (if &gt; 90%)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61688" y="5559552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Trend/CUSUM: miss 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3840480"/>
            <a:ext cx="3657600" cy="251460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3840480"/>
            <a:ext cx="36576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47888" y="400507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🔄 Gradual Drift Before
Threshold Fires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8" y="4553712"/>
            <a:ext cx="3438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CQI: 9.0 → 8.1 → 7.3 → 6.8
(still above warning=8.0 until late)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4956048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CUSUM 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5257800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Trend 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5559552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Threshold: fires late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5861304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IQR: point-only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Live Dashboard — What the 6 Detectors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AD3E0"/>
                </a:solidFill>
              </a:rPr>
              <a:t>KPI file upload → automatic 6-method ensemble → comparison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24231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🚦 KPI Health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Cell 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37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93.2%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F476F"/>
                </a:solidFill>
              </a:rPr>
              <a:t>&lt; 95.0 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391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39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RRC Setup 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391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91.5%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039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F476F"/>
                </a:solidFill>
              </a:rPr>
              <a:t>&lt; 95.0 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408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40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Registration SR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3408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96.8%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3408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&lt; 98.0 warning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426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642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Handover SR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6426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98.9%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6426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A0"/>
                </a:solidFill>
              </a:rPr>
              <a:t>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944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944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DL PRB Utilization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9443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83.2%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944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&gt; 80.0 warning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246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CQI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246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8.7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24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A0"/>
                </a:solidFill>
              </a:rPr>
              <a:t>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730752"/>
            <a:ext cx="5486400" cy="274320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40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🔬 Method Comparison Matrix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224528"/>
            <a:ext cx="155448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2336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KPI | Cell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4224528"/>
            <a:ext cx="53035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4233672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Thresh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87752" y="4224528"/>
            <a:ext cx="53035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87752" y="4233672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Peer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18104" y="4224528"/>
            <a:ext cx="53035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18104" y="4233672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Trend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48456" y="4224528"/>
            <a:ext cx="53035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48456" y="4233672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IQR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8808" y="4224528"/>
            <a:ext cx="53035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78808" y="4233672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CUSUM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4224528"/>
            <a:ext cx="5029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9160" y="423367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BB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535424"/>
            <a:ext cx="1554480" cy="384048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58622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Cell Availability | C1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4535424"/>
            <a:ext cx="530352" cy="384048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4586224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76F"/>
                </a:solidFill>
              </a:rPr>
              <a:t>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87752" y="4535424"/>
            <a:ext cx="530352" cy="384048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87752" y="4586224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18104" y="4535424"/>
            <a:ext cx="530352" cy="384048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18104" y="4586224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</a:rPr>
              <a:t>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48456" y="4535424"/>
            <a:ext cx="530352" cy="384048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48456" y="4586224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76F"/>
                </a:solidFill>
              </a:rPr>
              <a:t>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8808" y="4535424"/>
            <a:ext cx="530352" cy="384048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78808" y="4586224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</a:rPr>
              <a:t>🟡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09160" y="4535424"/>
            <a:ext cx="502920" cy="384048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09160" y="458622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974336"/>
            <a:ext cx="1554480" cy="38404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502513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RRC Setup SR | C1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57400" y="4974336"/>
            <a:ext cx="530352" cy="38404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5025136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76F"/>
                </a:solidFill>
              </a:rPr>
              <a:t>🔴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87752" y="4974336"/>
            <a:ext cx="530352" cy="38404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87752" y="5025136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76F"/>
                </a:solidFill>
              </a:rPr>
              <a:t>🔴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18104" y="4974336"/>
            <a:ext cx="530352" cy="38404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18104" y="5025136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</a:rPr>
              <a:t>🟡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48456" y="4974336"/>
            <a:ext cx="530352" cy="38404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48456" y="5025136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76F"/>
                </a:solidFill>
              </a:rPr>
              <a:t>🟠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78808" y="4974336"/>
            <a:ext cx="530352" cy="38404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78808" y="5025136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76F"/>
                </a:solidFill>
              </a:rPr>
              <a:t>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09160" y="4974336"/>
            <a:ext cx="502920" cy="38404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09160" y="502513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</a:rPr>
              <a:t>🟡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5413248"/>
            <a:ext cx="1554480" cy="384048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546404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PRB Util DL | C2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57400" y="5413248"/>
            <a:ext cx="530352" cy="384048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5464048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</a:rPr>
              <a:t>🟡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87752" y="5413248"/>
            <a:ext cx="530352" cy="384048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587752" y="5464048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18104" y="5413248"/>
            <a:ext cx="530352" cy="384048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118104" y="5464048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48456" y="5413248"/>
            <a:ext cx="530352" cy="384048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48456" y="5464048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76F"/>
                </a:solidFill>
              </a:rPr>
              <a:t>🟠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78808" y="5413248"/>
            <a:ext cx="530352" cy="384048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78808" y="5464048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09160" y="5413248"/>
            <a:ext cx="502920" cy="384048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09160" y="546404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76F"/>
                </a:solidFill>
              </a:rPr>
              <a:t>🔴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02920" y="5852160"/>
            <a:ext cx="1554480" cy="38404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2920" y="590296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CQI | C3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057400" y="5852160"/>
            <a:ext cx="530352" cy="38404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057400" y="5902960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587752" y="5852160"/>
            <a:ext cx="530352" cy="38404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587752" y="5902960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76F"/>
                </a:solidFill>
              </a:rPr>
              <a:t>🟠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118104" y="5852160"/>
            <a:ext cx="530352" cy="38404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18104" y="5902960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48456" y="5852160"/>
            <a:ext cx="530352" cy="38404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48456" y="5902960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178808" y="5852160"/>
            <a:ext cx="530352" cy="38404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178808" y="5902960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76F"/>
                </a:solidFill>
              </a:rPr>
              <a:t>🟠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709160" y="5852160"/>
            <a:ext cx="502920" cy="38404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709160" y="590296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</a:rPr>
              <a:t>🟡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80760" y="1188720"/>
            <a:ext cx="5760720" cy="525780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263640" y="12984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⚠️ Top Anomalies (merged, deduped)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1737360"/>
            <a:ext cx="5394960" cy="10515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263640" y="1737360"/>
            <a:ext cx="822960" cy="25603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263640" y="17373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Critical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178040" y="173736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Cell Availability | Cell_C1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60" y="204825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AD3E0"/>
                </a:solidFill>
              </a:rPr>
              <a:t>Confirmed by 3 detectors: Threshold + IQR + CUSUM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09360" y="23591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→ Check gNB hardware faults and O&amp;M logs.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263640" y="2926080"/>
            <a:ext cx="5394960" cy="10515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263640" y="2926080"/>
            <a:ext cx="822960" cy="256032"/>
          </a:xfrm>
          <a:prstGeom prst="rect">
            <a:avLst/>
          </a:prstGeom>
          <a:solidFill>
            <a:srgbClr val="FF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63640" y="29260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178040" y="29260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RRC Setup SR | Cell_C1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09360" y="323697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AD3E0"/>
                </a:solidFill>
              </a:rPr>
              <a:t>Confirmed by 4 detectors: Threshold + Peer + CUSUM + Trend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09360" y="3547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→ Check gNB RRC config; review Setup Timeout counters.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63640" y="4114800"/>
            <a:ext cx="5394960" cy="10515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263640" y="4114800"/>
            <a:ext cx="822960" cy="256032"/>
          </a:xfrm>
          <a:prstGeom prst="rect">
            <a:avLst/>
          </a:prstGeom>
          <a:solidFill>
            <a:srgbClr val="FF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263640" y="41148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78040" y="41148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PRB Utilization DL | Cell_C2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309360" y="44256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AD3E0"/>
                </a:solidFill>
              </a:rPr>
              <a:t>Bollinger Band burst at hour 15 + IQR outlier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309360" y="47365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→ DL congestion — consider load balancing.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263640" y="5303520"/>
            <a:ext cx="5394960" cy="10515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263640" y="5303520"/>
            <a:ext cx="822960" cy="2560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263640" y="53035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Medium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178040" y="53035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CQI | Cell_C3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309360" y="56144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AD3E0"/>
                </a:solidFill>
              </a:rPr>
              <a:t>CUSUM sustained downward drift; Peer comparison 2.4σ below fleet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309360" y="59253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→ Check antenna tilt/azimuth, MIMO config.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64008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247120" cy="10515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 complementary methods, not 6 redundant 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Each method covers a detection gap the others leave: point violations, relative outliers, long-term drift, distribution-free outliers, sustained change-points, burst spikes.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64008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514600"/>
            <a:ext cx="11247120" cy="10515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No single method is sufficient for telecom KPIs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Threshold alone misses underperforming cells. Z-score fails on skewed distributions. Linear regression misses bursts. CUSUM misses threshold violations. All 6 are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40"/>
            <a:ext cx="64008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749040"/>
            <a:ext cx="11247120" cy="10515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Implemented and live in the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5196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detect_kpi_anomalies_by_detector() runs all 6 independently. Method comparison matrix shows (KPI × Cell × Detector) — reviewer can see exactly what fired.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83480"/>
            <a:ext cx="64008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983480"/>
            <a:ext cx="11247120" cy="10515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749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Result: high-confidence anomalies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48640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Findings confirmed by 3+ detectors have near-zero false-positive rate. Single-detector flags are investigation candidates, not alarms.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282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Unified Telecom Analyzer  |  github.com/vikasrai-tech/telecom-analyzer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