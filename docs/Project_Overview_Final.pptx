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807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B4D8"/>
                </a:solidFill>
              </a:rPr>
              <a:t>Unified Telecom Analyzer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</a:rPr>
              <a:t>End-to-End 5G Network Anomaly Detection &amp; LLM Explanation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14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AAAAAA"/>
                </a:solidFill>
              </a:rPr>
              <a:t>M.Tech Data Science  |  PES Bangalore — Great Learning  |  Phase I Complete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63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DC653"/>
                </a:solidFill>
              </a:rPr>
              <a:t>✅ 6 Protocols  ✅ 6 PCAP Detectors  ✅ 6 KPI Detectors  ✅ 6 Stats Detectors  ✅ RAG + LLM  ✅ 56 Tests Passing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566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AAAAA"/>
                </a:solidFill>
              </a:rPr>
              <a:t>Python · pyshark · scikit-learn · PyTorch · Prophet · FAISS · Ollama · Streamlit · FastAPI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B4D8"/>
                </a:solidFill>
              </a:rPr>
              <a:t>🏗️  System Architecture — 5 Layers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858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B4D8"/>
                </a:solidFill>
              </a:rPr>
              <a:t>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41832"/>
            <a:ext cx="8412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PCAP (.pcap/.pcapng)  ·  DU/CU Stats (srsRAN / OAI / NIST CSV/Parquet)  ·  KPI Time-series (Excel/CSV)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417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DC653"/>
                </a:solidFill>
              </a:rPr>
              <a:t>PARSING  —  TS 24.501 / 38.413 / 38.331 / 38.473 / 38.463 / 38.423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73352"/>
            <a:ext cx="8412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NAS  ·  NGAP  ·  RRC  ·  F1AP  ·  E1AP  ·  XnAP  ·  KPI Parser  ·  Stats Parser (srsRAN/OAI/NIST)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2402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9400"/>
                </a:solidFill>
              </a:rPr>
              <a:t>DETECTION  —  18 detectors total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496312"/>
            <a:ext cx="8412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PCAP: IF · Statistical · OC-SVM · LOF · Elliptic Env. · LSTM-AE    KPI: Threshold · Peer Comp. · Trend · IQR · CUSUM · Bollinger    Stats: same 6 methods on L1/L2 counters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063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060FF"/>
                </a:solidFill>
              </a:rPr>
              <a:t>RAG + LLM  —  FAISS · MiniLM · Ollama phi3:mini  +  Feedback Loop +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3319272"/>
            <a:ext cx="8412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Query build → FAISS top-5 retrieval → Ollama prompt → structured JSON output  |  Feedback store → nightly retrainer  |  LSTM + Prophet 4h-ahead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8404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4D9F"/>
                </a:solidFill>
              </a:rPr>
              <a:t>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4096512"/>
            <a:ext cx="8412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Streamlit Dashboard (http://localhost:8501)  ·  FastAPI REST API (:8000)  ·  CLI Pipeline Runner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B4D8"/>
                </a:solidFill>
              </a:rPr>
              <a:t>📡  3GPP Protocols Parsed — Full 5G-NR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77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DC653"/>
                </a:solidFill>
              </a:rPr>
              <a:t>NAS — TS 24.501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51760" y="777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Registration · Auth · Security Mode · PDU Session Establishment · Deregistration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7772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AAAAAA"/>
                </a:solidFill>
              </a:rPr>
              <a:t>UE ↔ AMF  (N1)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44475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DC653"/>
                </a:solidFill>
              </a:rPr>
              <a:t>NGAP — TS 38.413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44475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InitialContextSetup · PDUSession Setup/Release · UEContextRelease · Handover · Paging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44475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AAAAAA"/>
                </a:solidFill>
              </a:rPr>
              <a:t>gNB-CU ↔ AMF  (N2)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11226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DC653"/>
                </a:solidFill>
              </a:rPr>
              <a:t>RRC — TS 38.331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211226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Setup · Reestablishment · Reconfiguration · Release · UE Capability · Measurement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11226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AAAAAA"/>
                </a:solidFill>
              </a:rPr>
              <a:t>UE ↔ gNB  (Uu)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77977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DC653"/>
                </a:solidFill>
              </a:rPr>
              <a:t>F1AP — TS 38.473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77977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F1 Setup · UE Context Setup/Release · DL/UL RRC Transfer · Initial UL RRC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277977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AAAAAA"/>
                </a:solidFill>
              </a:rPr>
              <a:t>gNB-DU ↔ gNB-CU-CP  (F1)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3447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DC653"/>
                </a:solidFill>
              </a:rPr>
              <a:t>E1AP — TS 38.463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44728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CU-UP Setup · Bearer Context Setup/Modify/Release · Data Notification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34472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AAAAAA"/>
                </a:solidFill>
              </a:rPr>
              <a:t>gNB-CU-CP ↔ gNB-CU-UP  (E1)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41148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DC653"/>
                </a:solidFill>
              </a:rPr>
              <a:t>XnAP — TS 38.423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48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Xn Setup · Handover Request · UE Context Release · SN Addition (MR-DC)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41148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AAAAAA"/>
                </a:solidFill>
              </a:rPr>
              <a:t>gNB ↔ gNB  (Xn)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B4D8"/>
                </a:solidFill>
              </a:rPr>
              <a:t>⚠️  PCAP Anomaly Detection — 6-Detector Ensemble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49808"/>
            <a:ext cx="228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4D8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Isolation Forest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06040" y="74980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9400"/>
                </a:solidFill>
              </a:rPr>
              <a:t>Unsupervised / tree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749808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</a:rPr>
              <a:t>Anomalies isolate in fewer tree splits. No distribution assumption. O(n log n). Best for global outliers.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325880"/>
            <a:ext cx="228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4D8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Statistical (Threshold+Cascade)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325880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9400"/>
                </a:solidFill>
              </a:rPr>
              <a:t>Rule-based / domain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325880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</a:rPr>
              <a:t>Encodes 3GPP SLA directly. 100% interpretable. Catches congestion chains, timeout storms, NAS→NGAP cascades.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901952"/>
            <a:ext cx="228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4D8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901952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One-Class SVM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1901952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9400"/>
                </a:solidFill>
              </a:rPr>
              <a:t>Kernel / 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1901952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</a:rPr>
              <a:t>Non-linear normal region in RKHS. Catches anomalies near but outside the normal boundary.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2478024"/>
            <a:ext cx="228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4D8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478024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LOF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2478024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9400"/>
                </a:solidFill>
              </a:rPr>
              <a:t>Density / local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2478024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</a:rPr>
              <a:t>Local Outlier Factor — catches cells 3σ below their local peer cluster even when globally within range.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3054096"/>
            <a:ext cx="228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4D8"/>
                </a:solidFill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054096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Elliptic Envelope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3054096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9400"/>
                </a:solidFill>
              </a:rPr>
              <a:t>Mahalanobis / Gaussian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3054096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</a:rPr>
              <a:t>Fastest interpretable baseline. Fits multivariate Gaussian; sanity-checks all ML methods.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3630168"/>
            <a:ext cx="228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4D8"/>
                </a:solidFill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630168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LSTM Autoencoder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363016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9400"/>
                </a:solidFill>
              </a:rPr>
              <a:t>Deep learning / sequence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3630168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</a:rPr>
              <a:t>ONLY method that catches procedure-ORDER violations (e.g., PDU Session before Authentication).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B4D8"/>
                </a:solidFill>
              </a:rPr>
              <a:t>📊  KPI + L1/L2 Stats Detection — 6-Method Ensemble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40080"/>
            <a:ext cx="8412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</a:rPr>
              <a:t>Same 6 methods applied to both KPI time-series (Excel/CSV) and DU/CU L1/L2 statistics (srsRAN · OAI · NIST)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60120"/>
            <a:ext cx="228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4D8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Threshold Violation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06040" y="960120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9400"/>
                </a:solidFill>
              </a:rPr>
              <a:t>Rule-based / 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96012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</a:rPr>
              <a:t>Per-row check vs warning/critical thresholds. Encodes 3GPP/ITU-T SLA directly. Zero false positives for known limits.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527048"/>
            <a:ext cx="228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4D8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27048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Peer Comparison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1527048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9400"/>
                </a:solidFill>
              </a:rPr>
              <a:t>Statistical / cross-cell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527048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</a:rPr>
              <a:t>Z-score vs fleet mean. Catches underperforming cells still within threshold but 3σ below peers.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093976"/>
            <a:ext cx="228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4D8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093976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Trend (Linear Regression)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2093976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9400"/>
                </a:solidFill>
              </a:rPr>
              <a:t>Temporal / slope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0939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</a:rPr>
              <a:t>Slope &gt; 0.5 unit/hr = actionable degradation even if current value looks 'green'. Early-warning signal.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2660904"/>
            <a:ext cx="228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4D8"/>
                </a:solidFill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660904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IQR (Tukey Fence)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2660904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9400"/>
                </a:solidFill>
              </a:rPr>
              <a:t>Robust / distribution-free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2660904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</a:rPr>
              <a:t>No Gaussian assumption. Works on skewed KPIs — PRB right-skewed, CQI left-skewed during interference.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3227832"/>
            <a:ext cx="228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4D8"/>
                </a:solidFill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227832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CUSUM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40" y="3227832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9400"/>
                </a:solidFill>
              </a:rPr>
              <a:t>Sequential / change-point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3227832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</a:rPr>
              <a:t>Accumulates small deviations. Catches RRC SR 99.5%→98.2% drift 5+ hours before threshold fires.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3794760"/>
            <a:ext cx="228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4D8"/>
                </a:solidFill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794760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Bollinger Bands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40" y="3794760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9400"/>
                </a:solidFill>
              </a:rPr>
              <a:t>Rolling envelope / burst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379476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</a:rPr>
              <a:t>Catches single-timestamp spikes invisible to trend methods. Rolling window gives local context.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B4D8"/>
                </a:solidFill>
              </a:rPr>
              <a:t>🤖  LLM Explainer — RAG over 3GPP Specifications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49808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1  Anomaly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749808"/>
            <a:ext cx="4389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procedure + severity + failure_causes + evidence dict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74980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from PCAP / KPI / Stats detector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28016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2  Query 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280160"/>
            <a:ext cx="4389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natural-language query from anomaly fields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28016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_build_query()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810512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3  Retrieve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810512"/>
            <a:ext cx="4389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FAISS cosine search → top-5 3GPP spec chunks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81051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all-MiniLM-L6-v2 (80 MB), 38 curated chunks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340863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4  Prompt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340863"/>
            <a:ext cx="4389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anomaly + retrieved spec context → structured JSON prompt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340863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_build_prompt()  |  temperature=0.2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2871215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5  LLM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2871215"/>
            <a:ext cx="4389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Ollama: phi3:mini → llama3.2:1b → mistral:7b  (preference chain)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2871215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Runs fully LOCAL — no cloud API, no data leaves premises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3401568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6  Rule-based fallback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401568"/>
            <a:ext cx="4389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template explanation built from retrieved chunks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340156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fires automatically if Ollama unavailable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393192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7  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3931920"/>
            <a:ext cx="4389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hypothesis · severity · citations (spec §) · investigation_hints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393192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dashboard + REST API response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457200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9400"/>
                </a:solidFill>
              </a:rPr>
              <a:t>Knowledge base: 38 curated chunks — TS 24.501 · 38.413 · 38.331 · 38.473 · 38.463 · 38.423 · 38.913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B4D8"/>
                </a:solidFill>
              </a:rPr>
              <a:t>🔄  MLOps Pipeline — Feedback Loop + Prediction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DC653"/>
                </a:solidFill>
              </a:rPr>
              <a:t>Feedback Loop (Tier 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Engineer marks each anomaly:  👍 Correct / 👎 False Positive / ❓ Uncertain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52728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Feedback stored to JSONL log  (src/feedback/store.py)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45336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Nightly retrainer reads FP rate per detector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37943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Adjusts contamination (IF/SVM/LOF/EE), sensitivity (Statistical), threshold (LSTM)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305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Formula:  new_param = base + α × (fp_rate − target_fp_rate)  [clamped 0.02–0.40]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Cron: 0 2 * * *  cd /mnt/e/telecom-analyzer &amp;&amp; make retrain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58368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060FF"/>
                </a:solidFill>
              </a:rPr>
              <a:t>Prediction Layer — 4h Ahead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9601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Prophet — Bayesian structural time-series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25272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  Handles seasonality · trends · missing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154533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  Best for KPIs with daily/weekly cycles (PRB, throughput)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837943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LSTM Sequence Model — nonlinear dependencies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13055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  Catches abrupt non-seasonal shifts (HARQ NACK, BLER)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4231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Output: anomaly dicts tagged  state='predicted'  + lead_time_h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71576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Dashboard: 🔮 Prediction Layer section with horizon slider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461772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</a:rPr>
              <a:t>make retrain  |  scripts/nightly_retrain.py  |  data/models/retrain_config.json stores tuned params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B4D8"/>
                </a:solidFill>
              </a:rPr>
              <a:t>🌐  Output Interfaces — Dashboard · REST API · CLI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8580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DC653"/>
                </a:solidFill>
              </a:rPr>
              <a:t>▶  Streamlit Dashboard  —  make dev  →  http://localhost:8501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7840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Upload PCAP, Stats CSV, or KPI Excel in one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6 protocol tabs · failure cause breakdown · IE inspector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9047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6-detector method comparison matrix + rationale expanders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46504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LLM explanation with 3GPP spec citations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02536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Prediction panel (LSTM + Prophet) · Feedback buttons · Event Router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459736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DC653"/>
                </a:solidFill>
              </a:rPr>
              <a:t>▶  FastAPI REST API  —  make api  →  http://localhost:8000/docs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52344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POST /analyze/pcap  — upload PCAP, returns full anomaly JSON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6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POST /analyze/kpi   — upload KPI file, returns anomaly 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6440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GET  /health        — Ollama status · model · 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721608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DC653"/>
                </a:solidFill>
              </a:rPr>
              <a:t>▶  CLI Pipeline Runner  —  python -m src.orchestrator.pipeline --input file.pcap [--no-llm] [--output report.json]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014216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Auto-detects PCAP / KPI / Stats from file extension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7024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--no-llm skips LLM (fast mode for CI)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5262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--output writes full JSON report for batch processing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B4D8"/>
                </a:solidFill>
              </a:rPr>
              <a:t>🎬  Demo Flow — Live Walkthrough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1323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B4D8"/>
                </a:solidFill>
              </a:rPr>
              <a:t>Step 1  (2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71323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Architecture intro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987552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Show README diagram. Explain 3 data paths, 18 detectors, LLM explainer.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380744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DC653"/>
                </a:solidFill>
              </a:rPr>
              <a:t>Step 2  (5 min)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38074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PCAP Demo  →  upload test_5g_full.pcap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655064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Parsed Summary → Procedure Counters → Failure Cause Breakdown → 6-Detector Ensemble → Method Comparison Matrix → LLM Explanation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048256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9400"/>
                </a:solidFill>
              </a:rPr>
              <a:t>Step 3  (3 min)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048256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KPI Demo  →  upload 5G_Network_KPI_Sample.xlsx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322576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KPI Health Summary heatmap → Trend Explorer → Per-Cell Breakdown → 6-Method Ensemble → Feedback buttons (👍/👎)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71576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A060FF"/>
                </a:solidFill>
              </a:rPr>
              <a:t>Step 4  (2 min)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71576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Stats Demo  →  upload srsran_stats.csv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990087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L1/L2 metrics (BLER, HARQ, SNR, PRB) → anomaly detection at physical layer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338328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4D9F"/>
                </a:solidFill>
              </a:rPr>
              <a:t>Step 5  (2 min)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38328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MLOps + REST 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3657600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Show Prediction Layer (4h forecast) · Feedback History · Open http://localhost:8000/docs → POST /analyze/pcap 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4050791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AAAAAA"/>
                </a:solidFill>
              </a:rPr>
              <a:t>Step 6  (1 min)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050791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Test suite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325112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Run  make test  in terminal → show 56 passing tests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B4D8"/>
                </a:solidFill>
              </a:rPr>
              <a:t>✅  Test Results — 56 Tests, All Passing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1323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4D8"/>
                </a:solidFill>
              </a:rPr>
              <a:t>test_walking_skeleton.py  (4 tests)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DC653"/>
                </a:solidFill>
              </a:rPr>
              <a:t>✅  parse_pcap_stub keys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61872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DC653"/>
                </a:solidFill>
              </a:rPr>
              <a:t>✅  detect_anomalies_stub 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17904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DC653"/>
                </a:solidFill>
              </a:rPr>
              <a:t>✅  explain_anomaly_stub citations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73936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DC653"/>
                </a:solidFill>
              </a:rPr>
              <a:t>✅  stub pipeline end-to-end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03911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4D8"/>
                </a:solidFill>
              </a:rPr>
              <a:t>test_real_pipeline.py  (16 tests)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31720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DC653"/>
                </a:solidFill>
              </a:rPr>
              <a:t>✅  Real PCAP parser — keys, procedures, schema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87752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DC653"/>
                </a:solidFill>
              </a:rPr>
              <a:t>✅  6 PCAP detectors — correct dict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43784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DC653"/>
                </a:solidFill>
              </a:rPr>
              <a:t>✅  KPI parser + 6 KPI detectors validated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099815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DC653"/>
                </a:solidFill>
              </a:rPr>
              <a:t>✅  RAG retriever — chunks + relevance ordering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355848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DC653"/>
                </a:solidFill>
              </a:rPr>
              <a:t>✅  LLM explainer — rule-based output schema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611880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DC653"/>
                </a:solidFill>
              </a:rPr>
              <a:t>✅  run_pcap_pipeline() and run_kpi_pipeline() end-to-end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67912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DC653"/>
                </a:solidFill>
              </a:rPr>
              <a:t>✅  run_pipeline() auto-detects file type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3364991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4D8"/>
                </a:solidFill>
              </a:rPr>
              <a:t>test_event_router.py  (8 tests)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657599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DC653"/>
                </a:solidFill>
              </a:rPr>
              <a:t>✅  ingest + summary + correlated events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913631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DC653"/>
                </a:solidFill>
              </a:rPr>
              <a:t>✅  cross-source correlation, top cells, event log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1323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4D8"/>
                </a:solidFill>
              </a:rPr>
              <a:t>test_feedback_prediction.py  (12 tests)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1005840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DC653"/>
                </a:solidFill>
              </a:rPr>
              <a:t>✅  feedback save/load/stats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1261872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DC653"/>
                </a:solidFill>
              </a:rPr>
              <a:t>✅  LSTM + Prophet prediction schema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203911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4D8"/>
                </a:solidFill>
              </a:rPr>
              <a:t>test_retrainer.py  (8 tests)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331720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DC653"/>
                </a:solidFill>
              </a:rPr>
              <a:t>✅  FP rate calculation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2587752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DC653"/>
                </a:solidFill>
              </a:rPr>
              <a:t>✅  param adjustment formula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2843784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DC653"/>
                </a:solidFill>
              </a:rPr>
              <a:t>✅  dry-run mode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3364991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4D8"/>
                </a:solidFill>
              </a:rPr>
              <a:t>test_walking_skeleton.py  (8 tests)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3657599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DC653"/>
                </a:solidFill>
              </a:rPr>
              <a:t>✅  stats parser — srsRAN/OAI/NIST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3913631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DC653"/>
                </a:solidFill>
              </a:rPr>
              <a:t>✅  6 stats detectors schema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B4D8"/>
                </a:solidFill>
              </a:rPr>
              <a:t>🎯  Reviewer Q&amp;A — Anticipated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13232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9400"/>
                </a:solidFill>
              </a:rPr>
              <a:t>Q:  Why 6 detectors instead of 1?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87552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A:  No single method catches all anomaly types. IF handles global; LOF handles local density. Statistical is deterministic; LSTM catches sequence violations. Multi-detector agreement = higher confidence, lower false positive rate.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517904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9400"/>
                </a:solidFill>
              </a:rPr>
              <a:t>Q:  Why Ollama (local LLM) not OpenAI/cloud?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92224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A:  Telecom data is sensitive — operator configs, failure rates, cell IDs cannot leave premises. Ollama runs phi3:mini fully local. Rule-based fallback ensures system works even without GPU.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322576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9400"/>
                </a:solidFill>
              </a:rPr>
              <a:t>Q:  How does the RAG know 3GPP specs?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96896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A:  38 curated spec excerpts from TS 24.501/38.413/38.331/38.473/38.463/38.423 are embedded with all-MiniLM-L6-v2 into a FAISS index. Each anomaly retrieves top-5 relevant chunks by cosine similarity.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127248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9400"/>
                </a:solidFill>
              </a:rPr>
              <a:t>Q:  What is the feedback loop?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01568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A:  Engineers mark TP/FP/Uncertain on each anomaly card. Nightly cron reads FP rate per detector and adjusts contamination/sensitivity. Formula: new_param = base + α×(fp_rate − target). This prevents false positive accumulation over time.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9400"/>
                </a:solidFill>
              </a:rPr>
              <a:t>Q:  What is the detection latency?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206240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A:  PCAP: ~5s for 500 procedures · KPI: ~3s for 400 rows · Stats: ~1s for 300 rows. Rule-based + IF are fastest; LSTM adds ~1s. --no-llm flag gives sub-2s total.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2DC653"/>
                </a:solidFill>
              </a:rPr>
              <a:t>Phase I — Complete 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AAAAA"/>
                </a:solidFill>
              </a:rPr>
              <a:t>M.Tech Data Science  |  PES Bangalore — Great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4D8"/>
                </a:solidFill>
              </a:rPr>
              <a:t>✅  Parsers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783080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6 × 3GPP protocols (NAS · NGAP · RRC · F1AP · E1AP · XnAP) + KPI + Stats (srsRAN/OAI/NIST)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8541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4D8"/>
                </a:solidFill>
              </a:rPr>
              <a:t>✅ 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2185416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18 detectors — 6 PCAP + 6 KPI + 6 Stats  (Isolation Forest through Bollinger Bands)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8775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4D8"/>
                </a:solidFill>
              </a:rPr>
              <a:t>✅  LLM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2587752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RAG pipeline: 38 spec chunks · FAISS · MiniLM · Ollama phi3:mini + rule-based fallback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9008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4D8"/>
                </a:solidFill>
              </a:rPr>
              <a:t>✅  MLOps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990088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Feedback loop → nightly retrainer + LSTM + Prophet 4h-ahead prediction 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9242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4D8"/>
                </a:solidFill>
              </a:rPr>
              <a:t>✅  Interfaces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3392424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Streamlit dashboard · FastAPI REST API · CLI orchestrator · Event Router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9476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4D8"/>
                </a:solidFill>
              </a:rPr>
              <a:t>✅  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3794760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56 tests passing — walking skeleton + real integration + event + feedback + retrainer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19709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4D8"/>
                </a:solidFill>
              </a:rPr>
              <a:t>✅  Docs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4197096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4 PPTs (PCAP methods · KPI methods · Stats · this deck) + Study Guide + SETUP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